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1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350" autoAdjust="0"/>
  </p:normalViewPr>
  <p:slideViewPr>
    <p:cSldViewPr>
      <p:cViewPr varScale="1">
        <p:scale>
          <a:sx n="68" d="100"/>
          <a:sy n="68" d="100"/>
        </p:scale>
        <p:origin x="1882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D835F-3EDD-43CA-8AF5-1DC5F7706775}" type="datetimeFigureOut">
              <a:rPr lang="fr-FR" smtClean="0"/>
              <a:t>20/04/2018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9AB39-96D3-4AB2-B3D1-AA399C1DC9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2744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F9AB39-96D3-4AB2-B3D1-AA399C1DC9D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8179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28E82B-F074-412F-BF61-4995AEA528A5}" type="slidenum">
              <a:rPr lang="fr-FR" altLang="en-US"/>
              <a:pPr/>
              <a:t>4</a:t>
            </a:fld>
            <a:endParaRPr lang="fr-FR" altLang="en-US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341813"/>
            <a:ext cx="5489575" cy="4116387"/>
          </a:xfrm>
        </p:spPr>
        <p:txBody>
          <a:bodyPr/>
          <a:lstStyle/>
          <a:p>
            <a:r>
              <a:rPr lang="en-US" altLang="en-US" dirty="0"/>
              <a:t>If we look at yield data in such type of conditions – we see that fields close to the homestead </a:t>
            </a:r>
            <a:r>
              <a:rPr lang="en-US" altLang="en-US" dirty="0" err="1"/>
              <a:t>aere</a:t>
            </a:r>
            <a:r>
              <a:rPr lang="en-US" altLang="en-US" dirty="0"/>
              <a:t> in general higher and respond better to</a:t>
            </a:r>
            <a:r>
              <a:rPr lang="en-US" altLang="en-US" baseline="0" dirty="0"/>
              <a:t> inputs of fertilizer, but also to other </a:t>
            </a:r>
            <a:r>
              <a:rPr lang="en-US" altLang="en-US" baseline="0" dirty="0" err="1"/>
              <a:t>mangement</a:t>
            </a:r>
            <a:r>
              <a:rPr lang="en-US" altLang="en-US" baseline="0" dirty="0"/>
              <a:t> practices such as weeding or pest control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07190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DAE5-7C66-49D8-94C0-163C9B33E5D9}" type="datetimeFigureOut">
              <a:rPr lang="en-US" smtClean="0"/>
              <a:t>4/20/2018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9630A-A3FF-4F75-A45F-B7D35E47815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53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DAE5-7C66-49D8-94C0-163C9B33E5D9}" type="datetimeFigureOut">
              <a:rPr lang="en-US" smtClean="0"/>
              <a:t>4/20/2018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9630A-A3FF-4F75-A45F-B7D35E47815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45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DAE5-7C66-49D8-94C0-163C9B33E5D9}" type="datetimeFigureOut">
              <a:rPr lang="en-US" smtClean="0"/>
              <a:t>4/20/2018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9630A-A3FF-4F75-A45F-B7D35E47815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5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DAE5-7C66-49D8-94C0-163C9B33E5D9}" type="datetimeFigureOut">
              <a:rPr lang="en-US" smtClean="0"/>
              <a:t>4/20/2018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9630A-A3FF-4F75-A45F-B7D35E47815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83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DAE5-7C66-49D8-94C0-163C9B33E5D9}" type="datetimeFigureOut">
              <a:rPr lang="en-US" smtClean="0"/>
              <a:t>4/20/2018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9630A-A3FF-4F75-A45F-B7D35E47815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96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DAE5-7C66-49D8-94C0-163C9B33E5D9}" type="datetimeFigureOut">
              <a:rPr lang="en-US" smtClean="0"/>
              <a:t>4/20/2018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9630A-A3FF-4F75-A45F-B7D35E47815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4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DAE5-7C66-49D8-94C0-163C9B33E5D9}" type="datetimeFigureOut">
              <a:rPr lang="en-US" smtClean="0"/>
              <a:t>4/20/2018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9630A-A3FF-4F75-A45F-B7D35E47815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71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DAE5-7C66-49D8-94C0-163C9B33E5D9}" type="datetimeFigureOut">
              <a:rPr lang="en-US" smtClean="0"/>
              <a:t>4/20/2018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9630A-A3FF-4F75-A45F-B7D35E47815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5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DAE5-7C66-49D8-94C0-163C9B33E5D9}" type="datetimeFigureOut">
              <a:rPr lang="en-US" smtClean="0"/>
              <a:t>4/20/2018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9630A-A3FF-4F75-A45F-B7D35E47815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1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DAE5-7C66-49D8-94C0-163C9B33E5D9}" type="datetimeFigureOut">
              <a:rPr lang="en-US" smtClean="0"/>
              <a:t>4/20/2018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9630A-A3FF-4F75-A45F-B7D35E47815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96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ADAE5-7C66-49D8-94C0-163C9B33E5D9}" type="datetimeFigureOut">
              <a:rPr lang="en-US" smtClean="0"/>
              <a:t>4/20/2018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9630A-A3FF-4F75-A45F-B7D35E47815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6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ADAE5-7C66-49D8-94C0-163C9B33E5D9}" type="datetimeFigureOut">
              <a:rPr lang="en-US" smtClean="0"/>
              <a:t>4/20/2018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9630A-A3FF-4F75-A45F-B7D35E47815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8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9900"/>
                </a:solidFill>
              </a:rPr>
              <a:t>CROP MODELING OF LOW-INPUT SMALLHOLDER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086600" cy="694928"/>
          </a:xfrm>
        </p:spPr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Gatien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Falconnier</a:t>
            </a:r>
            <a:r>
              <a:rPr lang="en-US" dirty="0">
                <a:solidFill>
                  <a:schemeClr val="tx1"/>
                </a:solidFill>
              </a:rPr>
              <a:t> &amp; Marc Corbeels et al.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5F309A4-DA67-47FC-ABCC-C7FA875637AF}"/>
              </a:ext>
            </a:extLst>
          </p:cNvPr>
          <p:cNvGrpSpPr/>
          <p:nvPr/>
        </p:nvGrpSpPr>
        <p:grpSpPr>
          <a:xfrm>
            <a:off x="323528" y="5736780"/>
            <a:ext cx="8134672" cy="1048440"/>
            <a:chOff x="323528" y="5736780"/>
            <a:chExt cx="8134672" cy="104844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5CAF194-6DD8-46E2-A12A-15DECDEA7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528" y="6093296"/>
              <a:ext cx="1402202" cy="54259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99B185-3794-45D1-B4AB-814B58D85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83768" y="5901223"/>
              <a:ext cx="1066892" cy="88399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DCD6825-F2E6-476E-86A8-827CF79ED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74527" y="5736780"/>
              <a:ext cx="3183673" cy="10484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6689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9900"/>
                </a:solidFill>
              </a:rPr>
              <a:t>CROP MODELING OF LOW-INPUT SMALLHOLDER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035" y="1772816"/>
            <a:ext cx="8229600" cy="40939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9900"/>
                </a:solidFill>
              </a:rPr>
              <a:t>Goal of this </a:t>
            </a:r>
            <a:r>
              <a:rPr lang="en-US" sz="2200" b="1" dirty="0" err="1">
                <a:solidFill>
                  <a:srgbClr val="009900"/>
                </a:solidFill>
              </a:rPr>
              <a:t>AgMIP</a:t>
            </a:r>
            <a:r>
              <a:rPr lang="en-US" sz="2200" b="1" dirty="0">
                <a:solidFill>
                  <a:srgbClr val="009900"/>
                </a:solidFill>
              </a:rPr>
              <a:t> activity:</a:t>
            </a:r>
            <a:endParaRPr lang="en-US" sz="2200" dirty="0">
              <a:solidFill>
                <a:srgbClr val="009900"/>
              </a:solidFill>
            </a:endParaRPr>
          </a:p>
          <a:p>
            <a:r>
              <a:rPr lang="en-US" sz="2200" dirty="0"/>
              <a:t>to improve the </a:t>
            </a:r>
            <a:r>
              <a:rPr lang="en-US" sz="2200" dirty="0">
                <a:solidFill>
                  <a:srgbClr val="009900"/>
                </a:solidFill>
              </a:rPr>
              <a:t>predictive capacity of crop models </a:t>
            </a:r>
            <a:r>
              <a:rPr lang="en-US" sz="2200" dirty="0"/>
              <a:t>under climate change in low soil fertility/low input cropping systems of the (sub)tropics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09900"/>
                </a:solidFill>
              </a:rPr>
              <a:t>Specific objectives </a:t>
            </a:r>
            <a:r>
              <a:rPr lang="en-US" sz="2200" dirty="0">
                <a:solidFill>
                  <a:srgbClr val="009900"/>
                </a:solidFill>
              </a:rPr>
              <a:t>:</a:t>
            </a:r>
          </a:p>
          <a:p>
            <a:pPr lvl="0"/>
            <a:r>
              <a:rPr lang="en-US" sz="2200" dirty="0"/>
              <a:t>to compare </a:t>
            </a:r>
            <a:r>
              <a:rPr lang="en-US" sz="2200" dirty="0">
                <a:solidFill>
                  <a:srgbClr val="009900"/>
                </a:solidFill>
              </a:rPr>
              <a:t>a number of crop growth models </a:t>
            </a:r>
            <a:r>
              <a:rPr lang="en-US" sz="2200" dirty="0"/>
              <a:t>for simulating crop (maize) growth under low soil fertility</a:t>
            </a:r>
          </a:p>
          <a:p>
            <a:pPr lvl="0"/>
            <a:r>
              <a:rPr lang="en-US" sz="2200" dirty="0"/>
              <a:t>to assess the </a:t>
            </a:r>
            <a:r>
              <a:rPr lang="en-US" sz="2200" dirty="0">
                <a:solidFill>
                  <a:srgbClr val="009900"/>
                </a:solidFill>
              </a:rPr>
              <a:t>impact of climate change on crop productivity </a:t>
            </a:r>
            <a:r>
              <a:rPr lang="en-US" sz="2200" dirty="0"/>
              <a:t>and quantify </a:t>
            </a:r>
            <a:r>
              <a:rPr lang="en-US" sz="2200" dirty="0">
                <a:solidFill>
                  <a:srgbClr val="009900"/>
                </a:solidFill>
              </a:rPr>
              <a:t>uncertainty </a:t>
            </a:r>
            <a:r>
              <a:rPr lang="en-US" sz="2200" dirty="0"/>
              <a:t>(and its factors) </a:t>
            </a:r>
          </a:p>
          <a:p>
            <a:pPr lvl="0"/>
            <a:r>
              <a:rPr lang="en-US" sz="2200" dirty="0"/>
              <a:t>to </a:t>
            </a:r>
            <a:r>
              <a:rPr lang="en-US" sz="2200" dirty="0">
                <a:solidFill>
                  <a:srgbClr val="009900"/>
                </a:solidFill>
              </a:rPr>
              <a:t>identify the gaps </a:t>
            </a:r>
            <a:r>
              <a:rPr lang="en-US" sz="2200" dirty="0"/>
              <a:t>in simulating crop growth responses to climate change under low soil fertility/low input cropping systems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91E325-B049-47AA-B6D4-4F714251F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01" y="5661248"/>
            <a:ext cx="8138865" cy="10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50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9900"/>
                </a:solidFill>
              </a:rPr>
              <a:t>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2000" dirty="0"/>
              <a:t>In many systems, especially in sub-Saharan Africa, </a:t>
            </a:r>
            <a:r>
              <a:rPr lang="en-US" sz="2000" dirty="0">
                <a:solidFill>
                  <a:srgbClr val="009900"/>
                </a:solidFill>
              </a:rPr>
              <a:t>soil fertility is low </a:t>
            </a:r>
            <a:r>
              <a:rPr lang="en-US" sz="2000" dirty="0"/>
              <a:t>due to inadequate use of fertilizer inputs and ongoing soil degradation. </a:t>
            </a:r>
          </a:p>
          <a:p>
            <a:pPr>
              <a:buClr>
                <a:schemeClr val="tx1"/>
              </a:buClr>
            </a:pPr>
            <a:r>
              <a:rPr lang="en-US" sz="2000" dirty="0"/>
              <a:t>This affects the </a:t>
            </a:r>
            <a:r>
              <a:rPr lang="en-US" sz="2000" dirty="0">
                <a:solidFill>
                  <a:srgbClr val="009900"/>
                </a:solidFill>
              </a:rPr>
              <a:t>crop responses </a:t>
            </a:r>
            <a:r>
              <a:rPr lang="en-US" sz="2000" dirty="0"/>
              <a:t>to climate change. </a:t>
            </a:r>
          </a:p>
          <a:p>
            <a:pPr>
              <a:buClr>
                <a:schemeClr val="tx1"/>
              </a:buClr>
            </a:pPr>
            <a:r>
              <a:rPr lang="en-US" sz="2000" dirty="0"/>
              <a:t>Low soil fertility systems with minimal fertilizers may </a:t>
            </a:r>
            <a:r>
              <a:rPr lang="en-US" sz="2000" dirty="0">
                <a:solidFill>
                  <a:srgbClr val="009900"/>
                </a:solidFill>
              </a:rPr>
              <a:t>be less sensitive to weather and CO</a:t>
            </a:r>
            <a:r>
              <a:rPr lang="en-US" sz="2000" baseline="-25000" dirty="0">
                <a:solidFill>
                  <a:srgbClr val="009900"/>
                </a:solidFill>
              </a:rPr>
              <a:t>2</a:t>
            </a:r>
            <a:r>
              <a:rPr lang="en-US" sz="2000" dirty="0">
                <a:solidFill>
                  <a:srgbClr val="009900"/>
                </a:solidFill>
              </a:rPr>
              <a:t> changes</a:t>
            </a:r>
            <a:r>
              <a:rPr lang="en-US" sz="2000" dirty="0"/>
              <a:t>, given other crop growth limiting factors (nutrients and water). </a:t>
            </a:r>
          </a:p>
          <a:p>
            <a:pPr>
              <a:buClr>
                <a:schemeClr val="tx1"/>
              </a:buClr>
            </a:pPr>
            <a:r>
              <a:rPr lang="en-US" sz="2000" dirty="0"/>
              <a:t>At the same time, </a:t>
            </a:r>
            <a:r>
              <a:rPr lang="en-US" sz="2000" dirty="0">
                <a:solidFill>
                  <a:srgbClr val="009900"/>
                </a:solidFill>
              </a:rPr>
              <a:t>low-input farmers </a:t>
            </a:r>
            <a:r>
              <a:rPr lang="en-US" sz="2000" dirty="0"/>
              <a:t>have </a:t>
            </a:r>
            <a:r>
              <a:rPr lang="en-US" sz="2000" dirty="0">
                <a:solidFill>
                  <a:srgbClr val="009900"/>
                </a:solidFill>
              </a:rPr>
              <a:t>lower ability </a:t>
            </a:r>
            <a:r>
              <a:rPr lang="en-US" sz="2000" dirty="0"/>
              <a:t>to cope with climate change, compared to well-capitalized, high-input farms. 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solidFill>
                  <a:srgbClr val="009900"/>
                </a:solidFill>
              </a:rPr>
              <a:t>Uncertainty</a:t>
            </a:r>
            <a:r>
              <a:rPr lang="en-US" sz="2000" dirty="0"/>
              <a:t> in predicting crop yields under climate change by current crop models is probably highest for low-input cropping systems of sub-Saharan Africa.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E35888-921E-40EE-8556-3AD905CB0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67" y="5534759"/>
            <a:ext cx="8138865" cy="10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900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Line 4"/>
          <p:cNvSpPr>
            <a:spLocks noChangeShapeType="1"/>
          </p:cNvSpPr>
          <p:nvPr/>
        </p:nvSpPr>
        <p:spPr bwMode="auto">
          <a:xfrm>
            <a:off x="0" y="936625"/>
            <a:ext cx="9144000" cy="0"/>
          </a:xfrm>
          <a:prstGeom prst="line">
            <a:avLst/>
          </a:prstGeom>
          <a:noFill/>
          <a:ln w="57150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152400" y="173038"/>
            <a:ext cx="85963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800" b="1" dirty="0">
                <a:latin typeface="Arial Narrow" pitchFamily="34" charset="0"/>
              </a:rPr>
              <a:t>Yield gaps: medium–to-infertile soils in Western </a:t>
            </a:r>
            <a:r>
              <a:rPr lang="en-US" altLang="en-US" sz="2800" b="1" dirty="0" err="1">
                <a:latin typeface="Arial Narrow" pitchFamily="34" charset="0"/>
              </a:rPr>
              <a:t>kenya</a:t>
            </a:r>
            <a:endParaRPr lang="en-US" altLang="en-US" sz="2800" b="1" dirty="0">
              <a:latin typeface="Arial Narrow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38" y="1412776"/>
            <a:ext cx="8193087" cy="538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445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9900"/>
                </a:solidFill>
              </a:rPr>
              <a:t>Approach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000" dirty="0"/>
              <a:t>Identification of </a:t>
            </a:r>
            <a:r>
              <a:rPr lang="en-US" sz="2000" dirty="0">
                <a:solidFill>
                  <a:srgbClr val="009900"/>
                </a:solidFill>
              </a:rPr>
              <a:t>4 pilot sites </a:t>
            </a:r>
            <a:r>
              <a:rPr lang="en-US" sz="2000" dirty="0"/>
              <a:t>with existing data and construction of databases according to the </a:t>
            </a:r>
            <a:r>
              <a:rPr lang="en-US" sz="2000" dirty="0" err="1"/>
              <a:t>AgMIP</a:t>
            </a:r>
            <a:r>
              <a:rPr lang="en-US" sz="2000" dirty="0"/>
              <a:t> format/standard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000" dirty="0" err="1">
                <a:solidFill>
                  <a:srgbClr val="009900"/>
                </a:solidFill>
              </a:rPr>
              <a:t>Intercomparison</a:t>
            </a:r>
            <a:r>
              <a:rPr lang="en-US" sz="2000" dirty="0">
                <a:solidFill>
                  <a:srgbClr val="009900"/>
                </a:solidFill>
              </a:rPr>
              <a:t> of crop models </a:t>
            </a:r>
            <a:r>
              <a:rPr lang="en-US" sz="2000" dirty="0"/>
              <a:t>(as many as possible) for maize growth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sz="2000" dirty="0"/>
              <a:t>Assessment of </a:t>
            </a:r>
            <a:r>
              <a:rPr lang="en-US" sz="2000" dirty="0">
                <a:solidFill>
                  <a:srgbClr val="009900"/>
                </a:solidFill>
              </a:rPr>
              <a:t>impact of climate change </a:t>
            </a:r>
            <a:r>
              <a:rPr lang="en-US" sz="2000" dirty="0"/>
              <a:t>on maize yields in low soil fertility/low input cropping systems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CA6500-D18F-445F-BCC8-AF6EA7C74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67" y="5445224"/>
            <a:ext cx="8138865" cy="10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30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317</Words>
  <Application>Microsoft Office PowerPoint</Application>
  <PresentationFormat>Affichage à l'écran (4:3)</PresentationFormat>
  <Paragraphs>23</Paragraphs>
  <Slides>5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Arial Narrow</vt:lpstr>
      <vt:lpstr>Calibri</vt:lpstr>
      <vt:lpstr>Office Theme</vt:lpstr>
      <vt:lpstr>CROP MODELING OF LOW-INPUT SMALLHOLDER SYSTEMS</vt:lpstr>
      <vt:lpstr>CROP MODELING OF LOW-INPUT SMALLHOLDER SYSTEMS</vt:lpstr>
      <vt:lpstr>Rationale</vt:lpstr>
      <vt:lpstr>Présentation PowerPoint</vt:lpstr>
      <vt:lpstr>Approach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Marc, Cobeels (CIMMYT)</dc:creator>
  <cp:lastModifiedBy>falconnier</cp:lastModifiedBy>
  <cp:revision>15</cp:revision>
  <dcterms:created xsi:type="dcterms:W3CDTF">2016-06-25T11:41:37Z</dcterms:created>
  <dcterms:modified xsi:type="dcterms:W3CDTF">2018-04-20T14:02:52Z</dcterms:modified>
</cp:coreProperties>
</file>